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12188952" cy="16459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12188952" cy="16459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6916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SAPIENZA UNIVERSITY OF ROME  ·  INTERACTIVE GRAPHICS 2025/2026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251460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spc="600" kern="0" dirty="0">
                <a:solidFill>
                  <a:srgbClr val="E8E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ECHOES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0" y="342900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N   T H E   D A R 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0" y="4160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First-Person Psychological Horror Survival Game — Built in Three.js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5074920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TRIO MONNEZZA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5376672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Davide Timperi  ·  Alexandru Vivian Pita  ·  Federico Mendiola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0" y="63093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sapienzainteractivegraphicscourse.github.io/final-project-triomonnezza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E8E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CONCEPT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Explore. Search. Escape. Survive.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320040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697480" cy="54864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2880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242316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834640"/>
            <a:ext cx="236829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dark, interconnected rooms using a single flashlight as your only source of light.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600200"/>
            <a:ext cx="2697480" cy="320040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600200"/>
            <a:ext cx="2697480" cy="54864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82880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39312" y="242316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9312" y="2834640"/>
            <a:ext cx="236829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Golden Key, hidden somewhere within the map's rooms and corridors.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2697480" cy="320040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600200"/>
            <a:ext cx="2697480" cy="54864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182880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65392" y="242316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65392" y="2834640"/>
            <a:ext cx="236829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the Goal Door — marked by a green glowing exit sign — to win.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26880" y="1600200"/>
            <a:ext cx="2697480" cy="320040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1600200"/>
            <a:ext cx="2697480" cy="54864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9491472" y="1828800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491472" y="2423160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91472" y="2834640"/>
            <a:ext cx="236829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invincible, relentless monster actively hunts you. You cannot fight it — only run.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960120"/>
          </a:xfrm>
          <a:prstGeom prst="rect">
            <a:avLst/>
          </a:prstGeom>
          <a:solidFill>
            <a:srgbClr val="1E1A1A"/>
          </a:solidFill>
          <a:ln w="9525">
            <a:solidFill>
              <a:srgbClr val="99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193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CONTEXT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546811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Fulfils every Interactive Graphics course requirement: custom WebGL/Three.js pipeline, hierarchical 3D modelling in code, Phong &amp; PBR materials, procedural trigonometric animation, custom AABB collision physics, and a Web Audio API spatial sound system.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 IN THE DARK  ·  Trio Monnezza  ·  Interactive Graphics 2025/2026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E8E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system — native ES Modules, resolved entirely by the browser's importmap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69164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292608" cy="292608"/>
          </a:xfrm>
          <a:prstGeom prst="ellipse">
            <a:avLst/>
          </a:prstGeom>
          <a:solidFill>
            <a:srgbClr val="99000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25856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r160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715768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engine — scene graph, materials, lights, cameras, raycasting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697480" cy="169164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874520"/>
            <a:ext cx="292608" cy="292608"/>
          </a:xfrm>
          <a:prstGeom prst="ellipse">
            <a:avLst/>
          </a:prstGeom>
          <a:solidFill>
            <a:srgbClr val="990000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225856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@tweenjs/tween.js v21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93592" y="2715768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interpolation — drives every procedural animation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2697480" cy="169164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874520"/>
            <a:ext cx="292608" cy="292608"/>
          </a:xfrm>
          <a:prstGeom prst="ellipse">
            <a:avLst/>
          </a:prstGeom>
          <a:solidFill>
            <a:srgbClr val="99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225856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PointerLockControls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2715768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addon — FPS-style mouse capture via Pointer Lock 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89720" y="1691640"/>
            <a:ext cx="2697480" cy="169164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1874520"/>
            <a:ext cx="292608" cy="292608"/>
          </a:xfrm>
          <a:prstGeom prst="ellipse">
            <a:avLst/>
          </a:prstGeom>
          <a:solidFill>
            <a:srgbClr val="99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9354312" y="225856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GLTFLoader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54312" y="2715768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all .glb models: rooms, props, doors, key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2697480" cy="169164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749040"/>
            <a:ext cx="292608" cy="292608"/>
          </a:xfrm>
          <a:prstGeom prst="ellipse">
            <a:avLst/>
          </a:prstGeom>
          <a:solidFill>
            <a:srgbClr val="99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13308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FBXLoader + fflate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" y="4590288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flashlight model; fflate silently unzips 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29000" y="3566160"/>
            <a:ext cx="2697480" cy="169164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3749040"/>
            <a:ext cx="292608" cy="292608"/>
          </a:xfrm>
          <a:prstGeom prst="ellipse">
            <a:avLst/>
          </a:prstGeom>
          <a:solidFill>
            <a:srgbClr val="99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3593592" y="413308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93592" y="4590288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AudioListener / Audio / PositionalAudio → 3D spatial monster sound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3566160"/>
            <a:ext cx="2697480" cy="169164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3749040"/>
            <a:ext cx="292608" cy="292608"/>
          </a:xfrm>
          <a:prstGeom prst="ellipse">
            <a:avLst/>
          </a:prstGeom>
          <a:solidFill>
            <a:srgbClr val="99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73952" y="413308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73952" y="4590288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bundler, no TypeScript — native &lt;script type="module"&gt;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89720" y="3566160"/>
            <a:ext cx="2697480" cy="169164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72600" y="3749040"/>
            <a:ext cx="292608" cy="292608"/>
          </a:xfrm>
          <a:prstGeom prst="ellipse">
            <a:avLst/>
          </a:prstGeom>
          <a:solidFill>
            <a:srgbClr val="99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9354312" y="413308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CSS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354312" y="4590288"/>
            <a:ext cx="2368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CRT scanline overlay, VT323 font, retro PSX HUD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 IN THE DARK  ·  Trio Monnezza  ·  Interactive Graphics 2025/2026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E8E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communicate exclusively through a global document custom-event bus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713232"/>
          </a:xfrm>
          <a:prstGeom prst="rect">
            <a:avLst/>
          </a:prstGeom>
          <a:solidFill>
            <a:srgbClr val="161414"/>
          </a:solidFill>
          <a:ln w="9525">
            <a:solidFill>
              <a:srgbClr val="99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0020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/ BOOTSTRAP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69080" y="1600200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· index.css · main.js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0" y="23134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0000"/>
                </a:solidFill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10515600" cy="713232"/>
          </a:xfrm>
          <a:prstGeom prst="rect">
            <a:avLst/>
          </a:prstGeom>
          <a:solidFill>
            <a:srgbClr val="1E1A1A"/>
          </a:solidFill>
          <a:ln w="9525">
            <a:solidFill>
              <a:srgbClr val="99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51460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9080" y="2514600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PlayerController · MonsterAI · AudioSystem · FlashlightController · DoorController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0" y="32278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0000"/>
                </a:solidFill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429000"/>
            <a:ext cx="10515600" cy="713232"/>
          </a:xfrm>
          <a:prstGeom prst="rect">
            <a:avLst/>
          </a:prstGeom>
          <a:solidFill>
            <a:srgbClr val="161414"/>
          </a:solidFill>
          <a:ln w="9525">
            <a:solidFill>
              <a:srgbClr val="99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42900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&amp; ANIMATIONS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9080" y="3429000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Monster.js · MonsterAnimator.js · TweenManager.js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0" y="41422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0000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343400"/>
            <a:ext cx="10515600" cy="713232"/>
          </a:xfrm>
          <a:prstGeom prst="rect">
            <a:avLst/>
          </a:prstGeom>
          <a:solidFill>
            <a:srgbClr val="1E1A1A"/>
          </a:solidFill>
          <a:ln w="9525">
            <a:solidFill>
              <a:srgbClr val="99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34340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BUILDING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69080" y="4343400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MapBase · MapEasy/Medium/Hard · InteriorAssetManager · CollisionBuilder · PropScale · TextureLoader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0" y="50566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0000"/>
                </a:solidFill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5257800"/>
            <a:ext cx="10515600" cy="713232"/>
          </a:xfrm>
          <a:prstGeom prst="rect">
            <a:avLst/>
          </a:prstGeom>
          <a:solidFill>
            <a:srgbClr val="161414"/>
          </a:solidFill>
          <a:ln w="9525">
            <a:solidFill>
              <a:srgbClr val="99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25780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69080" y="5257800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GameUIController.js · BloodSplatter.js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 IN THE DARK  ·  Trio Monnezza  ·  Interactive Graphics 2025/2026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E8E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SYSTEMS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src/core/ — five classes owning player, AI, light, doors, and sound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97680"/>
        </p:xfrm>
        <a:graphic>
          <a:graphicData uri="http://schemas.openxmlformats.org/drawingml/2006/table">
            <a:tbl>
              <a:tblPr/>
              <a:tblGrid>
                <a:gridCol w="2926080"/>
                <a:gridCol w="822960"/>
                <a:gridCol w="7315200"/>
              </a:tblGrid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CAA00"/>
                          </a:solidFill>
                        </a:rPr>
                        <a:t>FILE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CAA00"/>
                          </a:solidFill>
                        </a:rPr>
                        <a:t>LOC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CAA00"/>
                          </a:solidFill>
                        </a:rPr>
                        <a:t>RESPONSIBILITY</a:t>
                      </a:r>
                      <a:endParaRPr lang="en-US" sz="11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4DC"/>
                          </a:solidFill>
                        </a:rPr>
                        <a:t>PlayerController.js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C9690"/>
                          </a:solidFill>
                        </a:rPr>
                        <a:t>420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C9690"/>
                          </a:solidFill>
                        </a:rPr>
                        <a:t>Movement, AABB collision + wall-sliding, stamina, flashlight, interaction raycast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4DC"/>
                          </a:solidFill>
                        </a:rPr>
                        <a:t>MonsterAI.js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C9690"/>
                          </a:solidFill>
                        </a:rPr>
                        <a:t>439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C9690"/>
                          </a:solidFill>
                        </a:rPr>
                        <a:t>State machine: aggro, attack, stuck-recovery, fan-cast steering, teleport logic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4DC"/>
                          </a:solidFill>
                        </a:rPr>
                        <a:t>AudioSystem.js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C9690"/>
                          </a:solidFill>
                        </a:rPr>
                        <a:t>237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C9690"/>
                          </a:solidFill>
                        </a:rPr>
                        <a:t>Web Audio wrapper — BGM crossfade, positional 3D sound, SFX pool (singleton)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4DC"/>
                          </a:solidFill>
                        </a:rPr>
                        <a:t>FlashlightController.js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C9690"/>
                          </a:solidFill>
                        </a:rPr>
                        <a:t>304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C9690"/>
                          </a:solidFill>
                        </a:rPr>
                        <a:t>Battery drain, low-battery flicker, fear tremor, idle/walk/sprint sway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4DC"/>
                          </a:solidFill>
                        </a:rPr>
                        <a:t>DoorController.js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C9690"/>
                          </a:solidFill>
                        </a:rPr>
                        <a:t>168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C9690"/>
                          </a:solidFill>
                        </a:rPr>
                        <a:t>Hinge-pivot swing animation with custom back-out easing, open/close SFX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 IN THE DARK  ·  Trio Monnezza  ·  Interactive Graphics 2025/2026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E8E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MOVEMENT &amp; COLLISION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AABB collision with binary-search wall sliding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frame:  </a:t>
            </a:r>
            <a:pPr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damps velocity, WASD builds a normalised move vector, and PointerLockControls applies it camera-relative.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resolution:  </a:t>
            </a:r>
            <a:pPr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desired move collides, a binary search over 6 iterations finds the largest safe fraction of that move. Below 2%, the engine retries X-only and Z-only motion — producing smooth wall-sliding instead of a hard stop.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5212080" cy="50292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572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× 1.8 × 1.5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0" y="4572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collision capsule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5193792"/>
            <a:ext cx="5212080" cy="50292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1937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86000" y="51937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binary-search iterations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5815584"/>
            <a:ext cx="5212080" cy="50292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81558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0" y="581558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slide-retry threshold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5577840" cy="4572000"/>
          </a:xfrm>
          <a:prstGeom prst="rect">
            <a:avLst/>
          </a:prstGeom>
          <a:solidFill>
            <a:srgbClr val="0F0F0F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737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_findSafeFraction()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10312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(!checkCollisions(toPos))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1;          // full move safe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(checkCollisions(fromPos))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0;           // already stuck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lo = 0, hi = 1;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6; i++)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mid = (lo + hi) / 2;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testPos.lerpVectors(from, to, mid);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(checkCollisions(testPos))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hi = mid;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lo = mid;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lo;  // max collision-free fraction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 IN THE DARK  ·  Trio Monnezza  ·  Interactive Graphics 2025/2026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E8E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MONSTER AI — THE STALKER BRAIN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src/core/MonsterAI.js — 439 lines of pure state-machine logic, no external deps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42032" cy="868680"/>
          </a:xfrm>
          <a:prstGeom prst="rect">
            <a:avLst/>
          </a:prstGeom>
          <a:solidFill>
            <a:srgbClr val="161414"/>
          </a:solidFill>
          <a:ln w="9525">
            <a:solidFill>
              <a:srgbClr val="99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u/s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73552" y="1645920"/>
            <a:ext cx="2542032" cy="868680"/>
          </a:xfrm>
          <a:prstGeom prst="rect">
            <a:avLst/>
          </a:prstGeom>
          <a:solidFill>
            <a:srgbClr val="161414"/>
          </a:solidFill>
          <a:ln w="9525">
            <a:solidFill>
              <a:srgbClr val="99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3552" y="173736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u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73552" y="221284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AGGRO RADIUS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98464" y="1645920"/>
            <a:ext cx="2542032" cy="868680"/>
          </a:xfrm>
          <a:prstGeom prst="rect">
            <a:avLst/>
          </a:prstGeom>
          <a:solidFill>
            <a:srgbClr val="161414"/>
          </a:solidFill>
          <a:ln w="9525">
            <a:solidFill>
              <a:srgbClr val="99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98464" y="173736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u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98464" y="221284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RADIUS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723376" y="1645920"/>
            <a:ext cx="2542032" cy="868680"/>
          </a:xfrm>
          <a:prstGeom prst="rect">
            <a:avLst/>
          </a:prstGeom>
          <a:solidFill>
            <a:srgbClr val="161414"/>
          </a:solidFill>
          <a:ln w="9525">
            <a:solidFill>
              <a:srgbClr val="99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23376" y="173736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0.46 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723376" y="221284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DELAY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5440680" cy="1783080"/>
          </a:xfrm>
          <a:prstGeom prst="rect">
            <a:avLst/>
          </a:prstGeom>
          <a:solidFill>
            <a:srgbClr val="1E1A1A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743200"/>
            <a:ext cx="54864" cy="1783080"/>
          </a:xfrm>
          <a:prstGeom prst="rect">
            <a:avLst/>
          </a:prstGeom>
          <a:solidFill>
            <a:srgbClr val="CCAA0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88036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teleport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329184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aggro range for 6s → monster relocates 12–20 units from the player.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2743200"/>
            <a:ext cx="5440680" cy="1783080"/>
          </a:xfrm>
          <a:prstGeom prst="rect">
            <a:avLst/>
          </a:prstGeom>
          <a:solidFill>
            <a:srgbClr val="1E1A1A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2743200"/>
            <a:ext cx="54864" cy="1783080"/>
          </a:xfrm>
          <a:prstGeom prst="rect">
            <a:avLst/>
          </a:prstGeom>
          <a:solidFill>
            <a:srgbClr val="CCAA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88036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Fan-cast steering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0" y="329184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probe directions at ±0.8/±0.4/0 rad find the clearest unobstructed path forward.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5440680" cy="1783080"/>
          </a:xfrm>
          <a:prstGeom prst="rect">
            <a:avLst/>
          </a:prstGeom>
          <a:solidFill>
            <a:srgbClr val="1E1A1A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09160"/>
            <a:ext cx="54864" cy="1783080"/>
          </a:xfrm>
          <a:prstGeom prst="rect">
            <a:avLst/>
          </a:prstGeom>
          <a:solidFill>
            <a:srgbClr val="CCAA0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463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recovery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77240" y="52578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0.3 u moved in 0.5s → perpendicular escape after 1.5s, emergency teleport after 4s.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72200" y="4709160"/>
            <a:ext cx="5440680" cy="1783080"/>
          </a:xfrm>
          <a:prstGeom prst="rect">
            <a:avLst/>
          </a:prstGeom>
          <a:solidFill>
            <a:srgbClr val="1E1A1A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4709160"/>
            <a:ext cx="54864" cy="1783080"/>
          </a:xfrm>
          <a:prstGeom prst="rect">
            <a:avLst/>
          </a:prstGeom>
          <a:solidFill>
            <a:srgbClr val="CCAA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8463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Line-of-sight attack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00800" y="52578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2.5 u AND unobstructed ray → freezes, animates, kills after 0.46s.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 IN THE DARK  ·  Trio Monnezza  ·  Interactive Graphics 2025/2026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E8E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MONSTER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Monster.js — built entirely from primitive geometries, no imported mesh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572000"/>
          </a:xfrm>
          <a:prstGeom prst="rect">
            <a:avLst/>
          </a:prstGeom>
          <a:solidFill>
            <a:srgbClr val="0F0F0F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(Group, scale 1.636)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corpo (torso)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└── ribs × 3  (glow material)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testa (head)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├── occhioSx / occhioDx (glow eyes)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└── cornoSx / cornoDx (horns)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braccioSx (shoulder pivot)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└── avanbraccioSx (elbow pivot)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└── artigli × 3 (claws)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braccioDx  — mirrored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gambaSx (hip pivot)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└── ginocchioSx (knee pivot)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└── footSx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gambaDx  — mirrored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63640" y="169164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joint is a nested Group acting as a rotation pivot — shoulder, elbow, hip, and knee — which is exactly what lets MonsterAnimator drive a walking gait purely through rotation tweens, with zero skeletal animation clips.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3200400"/>
            <a:ext cx="5349240" cy="59436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3200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skinMaterial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32004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MeshPhongMaterial · dark blue-grey · flat shading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3977640"/>
            <a:ext cx="5349240" cy="59436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39776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accentMaterial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39776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MeshPhongMaterial · dark red · horns &amp; feet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4754880"/>
            <a:ext cx="5349240" cy="59436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7548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glowMaterial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475488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MeshBasicMaterial · unlit red-orange · eyes &amp; ribs always glow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 IN THE DARK  ·  Trio Monnezza  ·  Interactive Graphics 2025/2026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E8E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PROCEDURAL ANIMATION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MonsterAnimator.js — motion driven purely by trigonometric tweens, no clips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78608" cy="1920240"/>
          </a:xfrm>
          <a:prstGeom prst="rect">
            <a:avLst/>
          </a:prstGeom>
          <a:solidFill>
            <a:srgbClr val="161414"/>
          </a:solidFill>
          <a:ln w="9525">
            <a:solidFill>
              <a:srgbClr val="99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556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Sinusoidal head bob, subtle arm sway, random spasm every 3–8s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0128" y="1645920"/>
            <a:ext cx="2578608" cy="1920240"/>
          </a:xfrm>
          <a:prstGeom prst="rect">
            <a:avLst/>
          </a:prstGeom>
          <a:solidFill>
            <a:srgbClr val="161414"/>
          </a:solidFill>
          <a:ln w="9525">
            <a:solidFill>
              <a:srgbClr val="99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47288" y="17556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47288" y="214884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simultaneous tweens — arms &amp; legs alternate in phase, knee lift delayed 190ms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71616" y="1645920"/>
            <a:ext cx="2578608" cy="1920240"/>
          </a:xfrm>
          <a:prstGeom prst="rect">
            <a:avLst/>
          </a:prstGeom>
          <a:solidFill>
            <a:srgbClr val="161414"/>
          </a:solidFill>
          <a:ln w="9525">
            <a:solidFill>
              <a:srgbClr val="99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17556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08776" y="214884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snap + body lurch, settles over 90ms + 200ms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33104" y="1645920"/>
            <a:ext cx="2578608" cy="1920240"/>
          </a:xfrm>
          <a:prstGeom prst="rect">
            <a:avLst/>
          </a:prstGeom>
          <a:solidFill>
            <a:srgbClr val="161414"/>
          </a:solidFill>
          <a:ln w="9525">
            <a:solidFill>
              <a:srgbClr val="99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0264" y="17556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70264" y="214884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3-phase: anticipate 260ms → lunge 200ms → recoil 300ms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064240" cy="2331720"/>
          </a:xfrm>
          <a:prstGeom prst="rect">
            <a:avLst/>
          </a:prstGeom>
          <a:solidFill>
            <a:srgbClr val="0F0F0F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ANTI-PHASE WALKING GAIT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251960"/>
            <a:ext cx="66751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TWEEN.Tween(monster.gambaSx.rotation)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.to({ x: -0.4 }, 380).easing(Sinusoidal.InOut)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.yoyo(true).repeat(Infinity).start();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TWEEN.Tween(monster.gambaDx.rotation)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.to({ x: 0.4 }, 380)        // phase-inverted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.easing(Sinusoidal.InOut)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.yoyo(true).repeat(Infinity).start();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35240" y="4251960"/>
            <a:ext cx="37947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leg and right leg swing to opposite target angles on identical timers, producing a natural alternating stride entirely from two mirrored trigonometric tweens — no motion capture, no baked clips.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 IN THE DARK  ·  Trio Monnezza  ·  Interactive Graphics 2025/2026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E8E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AUDIO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AudioSystem.js — Web Audio API wrapped through Three.js's audio abstractions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61772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BGM CROSSFADE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monster crosses the aggro radius, the calm ambience track fades out while the intense "Awaiting Doom" track fades in — a classic horror music swell, driven every frame by distance to the monster.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3246120"/>
            <a:ext cx="5029200" cy="1828800"/>
          </a:xfrm>
          <a:prstGeom prst="rect">
            <a:avLst/>
          </a:prstGeom>
          <a:solidFill>
            <a:srgbClr val="0F0F0F"/>
          </a:solidFill>
          <a:ln w="9525">
            <a:solidFill>
              <a:srgbClr val="99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8328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setBGMState(distance &gt; farEdge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'ambience' : 'doom');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_crossfade(out, in)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20 steps over 2000ms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audioOut.setVolume(vol*(1-t));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audioIn.setVolume(vol*t);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4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52120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sec crossfade · 20 discrete steps · 100ms interval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349240" cy="461772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POSITIONAL SOUND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monster's breathing sound is a THREE.PositionalAudio attached directly to its mesh root. Three.js drives the Web Audio PannerNode automatically, so the player hears distance attenuation and stereo direction — literally hearing which way the monster approaches.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2104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looping non-positional tracks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Footsteps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21040" y="4343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Looping, volume-controlled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4892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SFX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21040" y="4892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Pre-allocated pool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5440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Monster breath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21040" y="5440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PositionalAudio, 3D spatial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 IN THE DARK  ·  Trio Monnezza  ·  Interactive Graphics 2025/2026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E8E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BUILDING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MapBase.js — a 1,022-line tile-grid engine shared by all three difficulty maps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are placed on a 4-metre tile grid via buildRoomByTiles(tx, tz, cols, rows, doorways, theme). Doorway strings like 'N_1' or 'S_2' cut wall openings and spawn hinged interactive doors, with de-duplication so shared walls never double-spawn a door.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11064240" cy="192024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4114800"/>
                <a:gridCol w="1051560"/>
                <a:gridCol w="1234440"/>
                <a:gridCol w="91440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CAA00"/>
                          </a:solidFill>
                        </a:rPr>
                        <a:t>MAP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CAA00"/>
                          </a:solidFill>
                        </a:rPr>
                        <a:t>THEME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CAA00"/>
                          </a:solidFill>
                        </a:rPr>
                        <a:t>MATERIALS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CAA00"/>
                          </a:solidFill>
                        </a:rPr>
                        <a:t>ROOMS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CAA00"/>
                          </a:solidFill>
                        </a:rPr>
                        <a:t>CORRIDORS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CAA00"/>
                          </a:solidFill>
                        </a:rPr>
                        <a:t>BATTERIES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4DC"/>
                          </a:solidFill>
                        </a:rPr>
                        <a:t>Easy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C9690"/>
                          </a:solidFill>
                        </a:rPr>
                        <a:t>Cosy Apartment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9690"/>
                          </a:solidFill>
                        </a:rPr>
                        <a:t>Wood floor, wallpaper, wood ceiling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4DC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4DC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4D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4DC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C9690"/>
                          </a:solidFill>
                        </a:rPr>
                        <a:t>Abandoned Hospital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9690"/>
                          </a:solidFill>
                        </a:rPr>
                        <a:t>Tile floor, plaster walls &amp; ceiling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4DC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4DC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4D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4DC"/>
                          </a:solidFill>
                        </a:rPr>
                        <a:t>Hard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C9690"/>
                          </a:solidFill>
                        </a:rPr>
                        <a:t>Stone Dungeon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9690"/>
                          </a:solidFill>
                        </a:rPr>
                        <a:t>Stone floor, brick walls, concrete ceiling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4DC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4DC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4D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41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846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Auto-population &amp; scaling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autoPopulateBigRoom() fills large rooms from an allowed-asset list with an exclusion grid to prevent overlap. PropScale.js calibrates each of the 80 individually-authored GLB models to a shared unit system (targetMeters × HUMAN_SCALE ÷ rawModelSize), so beds and bookshelves never dwarf a teacup.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 IN THE DARK  ·  Trio Monnezza  ·  Interactive Graphics 2025/2026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E8E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direct cross-system calls — every system talks through document custom events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718304" y="30632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990000"/>
          </a:solidFill>
          <a:ln w="19050">
            <a:solidFill>
              <a:srgbClr val="CCA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18304" y="30632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(event bus)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108960" cy="68580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PlayerController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0" y="2034540"/>
            <a:ext cx="1060704" cy="0"/>
          </a:xfrm>
          <a:prstGeom prst="line">
            <a:avLst/>
          </a:prstGeom>
          <a:noFill/>
          <a:ln w="19050">
            <a:solidFill>
              <a:srgbClr val="CCAA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2651760"/>
            <a:ext cx="3108960" cy="68580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517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MonsterAI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0" y="2994660"/>
            <a:ext cx="1060704" cy="0"/>
          </a:xfrm>
          <a:prstGeom prst="line">
            <a:avLst/>
          </a:prstGeom>
          <a:noFill/>
          <a:ln w="19050">
            <a:solidFill>
              <a:srgbClr val="CCAA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611880"/>
            <a:ext cx="3108960" cy="68580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118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FlashlightController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0" y="3954780"/>
            <a:ext cx="1060704" cy="0"/>
          </a:xfrm>
          <a:prstGeom prst="line">
            <a:avLst/>
          </a:prstGeom>
          <a:noFill/>
          <a:ln w="19050">
            <a:solidFill>
              <a:srgbClr val="CCAA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31352" y="1691640"/>
            <a:ext cx="3108960" cy="68580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31352" y="16916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DoorController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61504" y="2034540"/>
            <a:ext cx="1069848" cy="0"/>
          </a:xfrm>
          <a:prstGeom prst="line">
            <a:avLst/>
          </a:prstGeom>
          <a:noFill/>
          <a:ln w="19050">
            <a:solidFill>
              <a:srgbClr val="CCAA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31352" y="2651760"/>
            <a:ext cx="3108960" cy="68580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1352" y="26517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TweenManager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61504" y="2994660"/>
            <a:ext cx="1069848" cy="0"/>
          </a:xfrm>
          <a:prstGeom prst="line">
            <a:avLst/>
          </a:prstGeom>
          <a:noFill/>
          <a:ln w="19050">
            <a:solidFill>
              <a:srgbClr val="CCAA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31352" y="3611880"/>
            <a:ext cx="3108960" cy="685800"/>
          </a:xfrm>
          <a:prstGeom prst="rect">
            <a:avLst/>
          </a:prstGeom>
          <a:solidFill>
            <a:srgbClr val="161414"/>
          </a:solidFill>
          <a:ln w="12700">
            <a:solidFill>
              <a:srgbClr val="1E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31352" y="36118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GameUIController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61504" y="3954780"/>
            <a:ext cx="1069848" cy="0"/>
          </a:xfrm>
          <a:prstGeom prst="line">
            <a:avLst/>
          </a:prstGeom>
          <a:noFill/>
          <a:ln w="19050">
            <a:solidFill>
              <a:srgbClr val="CCAA0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EVENTS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0292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portaAperta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88920" y="5029200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interaction → animate hinge swing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37667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mostroAttacca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88920" y="5376672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monster attack → animation + player death timer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72414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itemRaccolto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88920" y="5724144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pickup → HUD update + flashlight recharge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07161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torciaScarica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88920" y="6071616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drained → narrows spotlight cone, updates HUD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1908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playerMorto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88920" y="6419088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killed → begins death fade sequence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ECHOES IN THE DARK  ·  Trio Monnezza  ·  Interactive Graphics 2025/2026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12188952" cy="16459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E8E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084832" cy="1554480"/>
          </a:xfrm>
          <a:prstGeom prst="rect">
            <a:avLst/>
          </a:prstGeom>
          <a:solidFill>
            <a:srgbClr val="161414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CA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79776" y="1371600"/>
            <a:ext cx="2084832" cy="1554480"/>
          </a:xfrm>
          <a:prstGeom prst="rect">
            <a:avLst/>
          </a:prstGeom>
          <a:solidFill>
            <a:srgbClr val="161414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9776" y="155448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CA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9,000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79776" y="23317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10912" y="1371600"/>
            <a:ext cx="2084832" cy="1554480"/>
          </a:xfrm>
          <a:prstGeom prst="rect">
            <a:avLst/>
          </a:prstGeom>
          <a:solidFill>
            <a:srgbClr val="161414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55448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CA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010912" y="23317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 MODELS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42048" y="1371600"/>
            <a:ext cx="2084832" cy="1554480"/>
          </a:xfrm>
          <a:prstGeom prst="rect">
            <a:avLst/>
          </a:prstGeom>
          <a:solidFill>
            <a:srgbClr val="161414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42048" y="155448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CA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242048" y="23317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FILES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473184" y="1371600"/>
            <a:ext cx="2084832" cy="1554480"/>
          </a:xfrm>
          <a:prstGeom prst="rect">
            <a:avLst/>
          </a:prstGeom>
          <a:solidFill>
            <a:srgbClr val="161414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73184" y="155448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CA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473184" y="233172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MAPS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730752"/>
            <a:ext cx="109728" cy="109728"/>
          </a:xfrm>
          <a:prstGeom prst="ellipse">
            <a:avLst/>
          </a:prstGeom>
          <a:solidFill>
            <a:srgbClr val="99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657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hierarchically-modelled creature animated purely by procedural, trigonometric tweens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142232"/>
            <a:ext cx="109728" cy="109728"/>
          </a:xfrm>
          <a:prstGeom prst="ellipse">
            <a:avLst/>
          </a:prstGeom>
          <a:solidFill>
            <a:srgbClr val="99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0690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hand-rolled AABB collision &amp; wall-sliding physics engine, shared by player and monster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553712"/>
            <a:ext cx="109728" cy="109728"/>
          </a:xfrm>
          <a:prstGeom prst="ellipse">
            <a:avLst/>
          </a:prstGeom>
          <a:solidFill>
            <a:srgbClr val="99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480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spatial audio — 3D positional sound and distance-driven music crossfades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965192"/>
            <a:ext cx="109728" cy="109728"/>
          </a:xfrm>
          <a:prstGeom prst="ellipse">
            <a:avLst/>
          </a:prstGeom>
          <a:solidFill>
            <a:srgbClr val="99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892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decoupled, event-bus architecture that let three developers work in parallel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0" y="539496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E8E4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sapienzainteractivegraphicscourse.github.io/final-project-triomonnezza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0" y="644652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Sapienza University of Rome · Interactive Graphics 2025/2026 · Trio Monnezza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2026-07-15T15:03:30Z</dcterms:created>
  <dcterms:modified xsi:type="dcterms:W3CDTF">2026-07-15T15:03:30Z</dcterms:modified>
</cp:coreProperties>
</file>